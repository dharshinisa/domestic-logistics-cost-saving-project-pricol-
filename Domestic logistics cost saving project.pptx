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  <p:sldMasterId id="2147483661" r:id="rId3"/>
    <p:sldMasterId id="2147483663" r:id="rId4"/>
  </p:sldMasterIdLst>
  <p:notesMasterIdLst>
    <p:notesMasterId r:id="rId22"/>
  </p:notesMasterIdLst>
  <p:handoutMasterIdLst>
    <p:handoutMasterId r:id="rId23"/>
  </p:handoutMasterIdLst>
  <p:sldIdLst>
    <p:sldId id="263" r:id="rId5"/>
    <p:sldId id="424" r:id="rId6"/>
    <p:sldId id="425" r:id="rId7"/>
    <p:sldId id="426" r:id="rId8"/>
    <p:sldId id="427" r:id="rId9"/>
    <p:sldId id="428" r:id="rId10"/>
    <p:sldId id="429" r:id="rId11"/>
    <p:sldId id="430" r:id="rId12"/>
    <p:sldId id="432" r:id="rId13"/>
    <p:sldId id="433" r:id="rId14"/>
    <p:sldId id="437" r:id="rId15"/>
    <p:sldId id="436" r:id="rId16"/>
    <p:sldId id="435" r:id="rId17"/>
    <p:sldId id="438" r:id="rId18"/>
    <p:sldId id="434" r:id="rId19"/>
    <p:sldId id="439" r:id="rId20"/>
    <p:sldId id="266" r:id="rId21"/>
  </p:sldIdLst>
  <p:sldSz cx="18288000" cy="13716000"/>
  <p:notesSz cx="7010400" cy="92964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pta S V B" initials="GSVB" lastIdx="1" clrIdx="0">
    <p:extLst>
      <p:ext uri="{19B8F6BF-5375-455C-9EA6-DF929625EA0E}">
        <p15:presenceInfo xmlns:p15="http://schemas.microsoft.com/office/powerpoint/2012/main" userId="S::gupta.svb@pricol.com::91fe8912-e2e2-4d6d-a104-afbab701108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  <a:srgbClr val="9933FF"/>
    <a:srgbClr val="00FFFF"/>
    <a:srgbClr val="FFFF99"/>
    <a:srgbClr val="D9E1F2"/>
    <a:srgbClr val="046EB6"/>
    <a:srgbClr val="9CCD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894" autoAdjust="0"/>
  </p:normalViewPr>
  <p:slideViewPr>
    <p:cSldViewPr>
      <p:cViewPr varScale="1">
        <p:scale>
          <a:sx n="33" d="100"/>
          <a:sy n="33" d="100"/>
        </p:scale>
        <p:origin x="1560" y="60"/>
      </p:cViewPr>
      <p:guideLst>
        <p:guide orient="horz" pos="4320"/>
        <p:guide pos="57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-3318" y="-108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3037840" cy="464820"/>
          </a:xfrm>
          <a:prstGeom prst="rect">
            <a:avLst/>
          </a:prstGeom>
        </p:spPr>
        <p:txBody>
          <a:bodyPr vert="horz" lIns="92944" tIns="46472" rIns="92944" bIns="4647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40" y="2"/>
            <a:ext cx="3037840" cy="464820"/>
          </a:xfrm>
          <a:prstGeom prst="rect">
            <a:avLst/>
          </a:prstGeom>
        </p:spPr>
        <p:txBody>
          <a:bodyPr vert="horz" lIns="92944" tIns="46472" rIns="92944" bIns="46472" rtlCol="0"/>
          <a:lstStyle>
            <a:lvl1pPr algn="r">
              <a:defRPr sz="1200"/>
            </a:lvl1pPr>
          </a:lstStyle>
          <a:p>
            <a:fld id="{FB411983-BCCE-49FF-868F-883BF1841BAA}" type="datetimeFigureOut">
              <a:rPr lang="en-US" smtClean="0"/>
              <a:pPr/>
              <a:t>3/31/2023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970"/>
            <a:ext cx="3037840" cy="464820"/>
          </a:xfrm>
          <a:prstGeom prst="rect">
            <a:avLst/>
          </a:prstGeom>
        </p:spPr>
        <p:txBody>
          <a:bodyPr vert="horz" lIns="92944" tIns="46472" rIns="92944" bIns="4647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40" y="8829970"/>
            <a:ext cx="3037840" cy="464820"/>
          </a:xfrm>
          <a:prstGeom prst="rect">
            <a:avLst/>
          </a:prstGeom>
        </p:spPr>
        <p:txBody>
          <a:bodyPr vert="horz" lIns="92944" tIns="46472" rIns="92944" bIns="46472" rtlCol="0" anchor="b"/>
          <a:lstStyle>
            <a:lvl1pPr algn="r">
              <a:defRPr sz="1200"/>
            </a:lvl1pPr>
          </a:lstStyle>
          <a:p>
            <a:fld id="{E4FCEE98-0E83-4A07-9D77-5B0599C02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06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3037840" cy="464820"/>
          </a:xfrm>
          <a:prstGeom prst="rect">
            <a:avLst/>
          </a:prstGeom>
        </p:spPr>
        <p:txBody>
          <a:bodyPr vert="horz" lIns="92944" tIns="46472" rIns="92944" bIns="4647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40" y="2"/>
            <a:ext cx="3037840" cy="464820"/>
          </a:xfrm>
          <a:prstGeom prst="rect">
            <a:avLst/>
          </a:prstGeom>
        </p:spPr>
        <p:txBody>
          <a:bodyPr vert="horz" lIns="92944" tIns="46472" rIns="92944" bIns="46472" rtlCol="0"/>
          <a:lstStyle>
            <a:lvl1pPr algn="r">
              <a:defRPr sz="1200"/>
            </a:lvl1pPr>
          </a:lstStyle>
          <a:p>
            <a:fld id="{94203B0B-8818-488F-B819-4FDC09A6EB6B}" type="datetimeFigureOut">
              <a:rPr lang="en-US" smtClean="0"/>
              <a:pPr/>
              <a:t>3/31/2023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44" tIns="46472" rIns="92944" bIns="4647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1"/>
            <a:ext cx="5608320" cy="4183380"/>
          </a:xfrm>
          <a:prstGeom prst="rect">
            <a:avLst/>
          </a:prstGeom>
        </p:spPr>
        <p:txBody>
          <a:bodyPr vert="horz" lIns="92944" tIns="46472" rIns="92944" bIns="4647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970"/>
            <a:ext cx="3037840" cy="464820"/>
          </a:xfrm>
          <a:prstGeom prst="rect">
            <a:avLst/>
          </a:prstGeom>
        </p:spPr>
        <p:txBody>
          <a:bodyPr vert="horz" lIns="92944" tIns="46472" rIns="92944" bIns="4647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29970"/>
            <a:ext cx="3037840" cy="464820"/>
          </a:xfrm>
          <a:prstGeom prst="rect">
            <a:avLst/>
          </a:prstGeom>
        </p:spPr>
        <p:txBody>
          <a:bodyPr vert="horz" lIns="92944" tIns="46472" rIns="92944" bIns="46472" rtlCol="0" anchor="b"/>
          <a:lstStyle>
            <a:lvl1pPr algn="r">
              <a:defRPr sz="1200"/>
            </a:lvl1pPr>
          </a:lstStyle>
          <a:p>
            <a:fld id="{0866CFDC-1378-42CE-9044-B8F43A6230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3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66CFDC-1378-42CE-9044-B8F43A62309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32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9372600"/>
            <a:ext cx="7010400" cy="762000"/>
          </a:xfrm>
          <a:prstGeom prst="rect">
            <a:avLst/>
          </a:prstGeom>
        </p:spPr>
        <p:txBody>
          <a:bodyPr/>
          <a:lstStyle>
            <a:lvl1pPr>
              <a:buNone/>
              <a:defRPr sz="48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676400"/>
            <a:ext cx="1981200" cy="533400"/>
          </a:xfrm>
          <a:prstGeom prst="rect">
            <a:avLst/>
          </a:prstGeom>
        </p:spPr>
        <p:txBody>
          <a:bodyPr/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dirty="0" smtClean="0"/>
            </a:lvl1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46EB6"/>
                </a:solidFill>
                <a:latin typeface="Arial" pitchFamily="34" charset="0"/>
                <a:cs typeface="Arial" pitchFamily="34" charset="0"/>
              </a:rPr>
              <a:t>SAMPLE</a:t>
            </a:r>
          </a:p>
        </p:txBody>
      </p:sp>
      <p:sp>
        <p:nvSpPr>
          <p:cNvPr id="4" name="Text Placeholder 28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286000"/>
            <a:ext cx="5257800" cy="4572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3200" baseline="0">
                <a:solidFill>
                  <a:srgbClr val="9CCD7B"/>
                </a:solidFill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800" i="1" dirty="0">
                <a:solidFill>
                  <a:srgbClr val="9CCD7B"/>
                </a:solidFill>
                <a:latin typeface="Arial" pitchFamily="34" charset="0"/>
                <a:cs typeface="Arial" pitchFamily="34" charset="0"/>
              </a:rPr>
              <a:t>BUSINESS PRESENTATION</a:t>
            </a:r>
          </a:p>
        </p:txBody>
      </p:sp>
      <p:sp>
        <p:nvSpPr>
          <p:cNvPr id="5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276600"/>
            <a:ext cx="1981200" cy="533400"/>
          </a:xfrm>
          <a:prstGeom prst="rect">
            <a:avLst/>
          </a:prstGeom>
        </p:spPr>
        <p:txBody>
          <a:bodyPr/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u="none">
                <a:solidFill>
                  <a:srgbClr val="046EB6"/>
                </a:solidFill>
                <a:effectLst/>
                <a:latin typeface="Arial" pitchFamily="34" charset="0"/>
                <a:ea typeface="1873 Winchester" pitchFamily="2" charset="0"/>
                <a:cs typeface="Arial" pitchFamily="34" charset="0"/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46EB6"/>
                </a:solidFill>
                <a:latin typeface="Arial" pitchFamily="34" charset="0"/>
                <a:cs typeface="Arial" pitchFamily="34" charset="0"/>
              </a:rPr>
              <a:t>SAMPLE</a:t>
            </a:r>
          </a:p>
        </p:txBody>
      </p:sp>
      <p:sp>
        <p:nvSpPr>
          <p:cNvPr id="6" name="Text Placeholder 33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6154400" cy="67818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1676402"/>
            <a:ext cx="1981200" cy="533400"/>
          </a:xfrm>
          <a:prstGeom prst="rect">
            <a:avLst/>
          </a:prstGeom>
        </p:spPr>
        <p:txBody>
          <a:bodyPr lIns="91440" tIns="45721" rIns="91440" bIns="45721"/>
          <a:lstStyle>
            <a:lvl1pPr marL="0" marR="0" indent="0" algn="l" defTabSz="1828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dirty="0" smtClean="0"/>
            </a:lvl1pPr>
          </a:lstStyle>
          <a:p>
            <a:pPr marL="0" marR="0" lvl="0" indent="0" algn="l" defTabSz="1828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46EB6"/>
                </a:solidFill>
                <a:latin typeface="Arial" pitchFamily="34" charset="0"/>
                <a:cs typeface="Arial" pitchFamily="34" charset="0"/>
              </a:rPr>
              <a:t>SAMPLE</a:t>
            </a:r>
          </a:p>
        </p:txBody>
      </p:sp>
      <p:sp>
        <p:nvSpPr>
          <p:cNvPr id="4" name="Text Placeholder 28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286001"/>
            <a:ext cx="5257799" cy="457200"/>
          </a:xfrm>
          <a:prstGeom prst="rect">
            <a:avLst/>
          </a:prstGeom>
        </p:spPr>
        <p:txBody>
          <a:bodyPr lIns="91440" tIns="45721" rIns="91440" bIns="45721"/>
          <a:lstStyle>
            <a:lvl1pPr marL="342832" marR="0" indent="-342832" algn="l" defTabSz="91422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3199" baseline="0">
                <a:solidFill>
                  <a:srgbClr val="9CCD7B"/>
                </a:solidFill>
              </a:defRPr>
            </a:lvl1pPr>
          </a:lstStyle>
          <a:p>
            <a:pPr marL="342832" marR="0" lvl="0" indent="-342832" algn="l" defTabSz="91422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699" i="1" dirty="0">
                <a:solidFill>
                  <a:srgbClr val="9CCD7B"/>
                </a:solidFill>
                <a:latin typeface="Arial" pitchFamily="34" charset="0"/>
                <a:cs typeface="Arial" pitchFamily="34" charset="0"/>
              </a:rPr>
              <a:t>BUSINESS PRESENTATION</a:t>
            </a:r>
          </a:p>
        </p:txBody>
      </p:sp>
      <p:sp>
        <p:nvSpPr>
          <p:cNvPr id="5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276600"/>
            <a:ext cx="1981200" cy="533400"/>
          </a:xfrm>
          <a:prstGeom prst="rect">
            <a:avLst/>
          </a:prstGeom>
        </p:spPr>
        <p:txBody>
          <a:bodyPr lIns="91440" tIns="45721" rIns="91440" bIns="45721"/>
          <a:lstStyle>
            <a:lvl1pPr marL="0" marR="0" indent="0" algn="l" defTabSz="1828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u="none">
                <a:solidFill>
                  <a:srgbClr val="046EB6"/>
                </a:solidFill>
                <a:effectLst/>
                <a:latin typeface="Arial" pitchFamily="34" charset="0"/>
                <a:ea typeface="1873 Winchester" pitchFamily="2" charset="0"/>
                <a:cs typeface="Arial" pitchFamily="34" charset="0"/>
              </a:defRPr>
            </a:lvl1pPr>
          </a:lstStyle>
          <a:p>
            <a:pPr marL="0" marR="0" lvl="0" indent="0" algn="l" defTabSz="1828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46EB6"/>
                </a:solidFill>
                <a:latin typeface="Arial" pitchFamily="34" charset="0"/>
                <a:cs typeface="Arial" pitchFamily="34" charset="0"/>
              </a:rPr>
              <a:t>SAMPLE</a:t>
            </a:r>
          </a:p>
        </p:txBody>
      </p:sp>
      <p:sp>
        <p:nvSpPr>
          <p:cNvPr id="6" name="Text Placeholder 33"/>
          <p:cNvSpPr>
            <a:spLocks noGrp="1"/>
          </p:cNvSpPr>
          <p:nvPr>
            <p:ph type="body" sz="quarter" idx="13"/>
          </p:nvPr>
        </p:nvSpPr>
        <p:spPr>
          <a:xfrm>
            <a:off x="685802" y="3886199"/>
            <a:ext cx="16154400" cy="6781800"/>
          </a:xfrm>
          <a:prstGeom prst="rect">
            <a:avLst/>
          </a:prstGeom>
        </p:spPr>
        <p:txBody>
          <a:bodyPr lIns="91440" tIns="45721" rIns="91440" bIns="45721"/>
          <a:lstStyle>
            <a:lvl1pPr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56343" y="13282019"/>
            <a:ext cx="2847257" cy="353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4" tIns="45713" rIns="91424" bIns="4571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1700" dirty="0">
                <a:solidFill>
                  <a:srgbClr val="046EB6"/>
                </a:solidFill>
              </a:rPr>
              <a:t>Copyright © PRICOL Limited</a:t>
            </a:r>
            <a:endParaRPr lang="en-US" altLang="en-US" sz="1700" dirty="0">
              <a:solidFill>
                <a:srgbClr val="046EB6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 userDrawn="1"/>
        </p:nvSpPr>
        <p:spPr bwMode="auto">
          <a:xfrm>
            <a:off x="7720372" y="13282017"/>
            <a:ext cx="2847257" cy="353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4" tIns="45713" rIns="91424" bIns="4571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700" dirty="0">
              <a:solidFill>
                <a:srgbClr val="046EB6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549935" y="13279833"/>
            <a:ext cx="1188132" cy="353904"/>
          </a:xfrm>
          <a:prstGeom prst="rect">
            <a:avLst/>
          </a:prstGeom>
          <a:noFill/>
        </p:spPr>
        <p:txBody>
          <a:bodyPr wrap="square" lIns="91424" tIns="45713" rIns="91424" bIns="45713" rtlCol="0">
            <a:spAutoFit/>
          </a:bodyPr>
          <a:lstStyle/>
          <a:p>
            <a:r>
              <a:rPr lang="en-US" sz="1700" b="0" i="0" kern="1200" dirty="0">
                <a:solidFill>
                  <a:srgbClr val="046EB6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en-US" sz="1700" b="0" i="0" kern="1200" baseline="0" dirty="0">
                <a:solidFill>
                  <a:srgbClr val="046EB6"/>
                </a:solidFill>
                <a:effectLst/>
                <a:latin typeface="+mn-lt"/>
                <a:ea typeface="+mn-ea"/>
                <a:cs typeface="+mn-cs"/>
              </a:rPr>
              <a:t> </a:t>
            </a:r>
            <a:fld id="{8C873B84-7789-4D4B-A20E-ED1355786478}" type="slidenum">
              <a:rPr lang="en-US" sz="1700" b="0" smtClean="0">
                <a:solidFill>
                  <a:srgbClr val="046EB6"/>
                </a:solidFill>
              </a:rPr>
              <a:pPr/>
              <a:t>‹#›</a:t>
            </a:fld>
            <a:endParaRPr lang="en-US" sz="1700" b="0" dirty="0">
              <a:solidFill>
                <a:srgbClr val="046E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55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9372601"/>
            <a:ext cx="7010400" cy="762000"/>
          </a:xfrm>
          <a:prstGeom prst="rect">
            <a:avLst/>
          </a:prstGeom>
        </p:spPr>
        <p:txBody>
          <a:bodyPr lIns="91440" tIns="45721" rIns="91440" bIns="45721"/>
          <a:lstStyle>
            <a:lvl1pPr>
              <a:buNone/>
              <a:defRPr sz="4799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56343" y="13282019"/>
            <a:ext cx="2847257" cy="353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4" tIns="45713" rIns="91424" bIns="4571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1700" dirty="0">
                <a:solidFill>
                  <a:srgbClr val="046EB6"/>
                </a:solidFill>
              </a:rPr>
              <a:t>Copyright © PRICOL Limited</a:t>
            </a:r>
            <a:endParaRPr lang="en-US" altLang="en-US" sz="1700" dirty="0">
              <a:solidFill>
                <a:srgbClr val="046EB6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7720372" y="13282017"/>
            <a:ext cx="2847257" cy="353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4" tIns="45713" rIns="91424" bIns="4571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700" dirty="0">
              <a:solidFill>
                <a:srgbClr val="046EB6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549935" y="13279833"/>
            <a:ext cx="1188132" cy="353904"/>
          </a:xfrm>
          <a:prstGeom prst="rect">
            <a:avLst/>
          </a:prstGeom>
          <a:noFill/>
        </p:spPr>
        <p:txBody>
          <a:bodyPr wrap="square" lIns="91424" tIns="45713" rIns="91424" bIns="45713" rtlCol="0">
            <a:spAutoFit/>
          </a:bodyPr>
          <a:lstStyle/>
          <a:p>
            <a:r>
              <a:rPr lang="en-US" sz="1700" b="0" i="0" kern="1200" dirty="0">
                <a:solidFill>
                  <a:srgbClr val="046EB6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en-US" sz="1700" b="0" i="0" kern="1200" baseline="0" dirty="0">
                <a:solidFill>
                  <a:srgbClr val="046EB6"/>
                </a:solidFill>
                <a:effectLst/>
                <a:latin typeface="+mn-lt"/>
                <a:ea typeface="+mn-ea"/>
                <a:cs typeface="+mn-cs"/>
              </a:rPr>
              <a:t> </a:t>
            </a:r>
            <a:fld id="{8C873B84-7789-4D4B-A20E-ED1355786478}" type="slidenum">
              <a:rPr lang="en-US" sz="1700" b="0" smtClean="0">
                <a:solidFill>
                  <a:srgbClr val="046EB6"/>
                </a:solidFill>
              </a:rPr>
              <a:pPr/>
              <a:t>‹#›</a:t>
            </a:fld>
            <a:endParaRPr lang="en-US" sz="1700" b="0" dirty="0">
              <a:solidFill>
                <a:srgbClr val="046E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492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imite Image PPT Template-23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3716000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56341" y="13282016"/>
            <a:ext cx="284725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1700" dirty="0">
                <a:solidFill>
                  <a:srgbClr val="046EB6"/>
                </a:solidFill>
              </a:rPr>
              <a:t>Copyright © PRICOL Limited</a:t>
            </a:r>
            <a:endParaRPr lang="en-US" altLang="en-US" sz="1700" dirty="0">
              <a:solidFill>
                <a:srgbClr val="046EB6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7720371" y="13282015"/>
            <a:ext cx="284725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700" dirty="0">
              <a:solidFill>
                <a:srgbClr val="046EB6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8549934" y="13279831"/>
            <a:ext cx="118813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0" i="0" kern="1200" dirty="0">
                <a:solidFill>
                  <a:srgbClr val="046EB6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en-US" sz="1700" b="0" i="0" kern="1200" baseline="0" dirty="0">
                <a:solidFill>
                  <a:srgbClr val="046EB6"/>
                </a:solidFill>
                <a:effectLst/>
                <a:latin typeface="+mn-lt"/>
                <a:ea typeface="+mn-ea"/>
                <a:cs typeface="+mn-cs"/>
              </a:rPr>
              <a:t> </a:t>
            </a:r>
            <a:fld id="{8C873B84-7789-4D4B-A20E-ED1355786478}" type="slidenum">
              <a:rPr lang="en-US" sz="1700" b="0" smtClean="0">
                <a:solidFill>
                  <a:srgbClr val="046EB6"/>
                </a:solidFill>
              </a:rPr>
              <a:pPr/>
              <a:t>‹#›</a:t>
            </a:fld>
            <a:endParaRPr lang="en-US" sz="1700" b="0" dirty="0">
              <a:solidFill>
                <a:srgbClr val="046EB6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18288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1828800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1828800" rtl="0" eaLnBrk="1" latinLnBrk="0" hangingPunct="1">
        <a:spcBef>
          <a:spcPct val="20000"/>
        </a:spcBef>
        <a:buFont typeface="Arial" pitchFamily="34" charset="0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spcBef>
          <a:spcPct val="20000"/>
        </a:spcBef>
        <a:buFont typeface="Arial" pitchFamily="34" charset="0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Z:\Pricol\Brand Manual\Digital templates\Jpeg\04Feb16\Limited PPT Template-17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37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56341" y="13282016"/>
            <a:ext cx="284725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1700" dirty="0">
                <a:solidFill>
                  <a:srgbClr val="046EB6"/>
                </a:solidFill>
              </a:rPr>
              <a:t>Copyright © PRICOL Limited</a:t>
            </a:r>
            <a:endParaRPr lang="en-US" altLang="en-US" sz="1700" dirty="0">
              <a:solidFill>
                <a:srgbClr val="046EB6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7720371" y="13282015"/>
            <a:ext cx="284725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700" dirty="0">
              <a:solidFill>
                <a:srgbClr val="046EB6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549934" y="13279831"/>
            <a:ext cx="118813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0" i="0" kern="1200" dirty="0">
                <a:solidFill>
                  <a:srgbClr val="046EB6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en-US" sz="1700" b="0" i="0" kern="1200" baseline="0" dirty="0">
                <a:solidFill>
                  <a:srgbClr val="046EB6"/>
                </a:solidFill>
                <a:effectLst/>
                <a:latin typeface="+mn-lt"/>
                <a:ea typeface="+mn-ea"/>
                <a:cs typeface="+mn-cs"/>
              </a:rPr>
              <a:t> </a:t>
            </a:r>
            <a:fld id="{8C873B84-7789-4D4B-A20E-ED1355786478}" type="slidenum">
              <a:rPr lang="en-US" sz="1700" b="0" smtClean="0">
                <a:solidFill>
                  <a:srgbClr val="046EB6"/>
                </a:solidFill>
              </a:rPr>
              <a:pPr/>
              <a:t>‹#›</a:t>
            </a:fld>
            <a:endParaRPr lang="en-US" sz="1700" b="0" dirty="0">
              <a:solidFill>
                <a:srgbClr val="046EB6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Z:\Pricol\Brand Manual\Digital templates\Jpeg\04Feb16\Limited PPT Template-18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37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56341" y="13282016"/>
            <a:ext cx="284725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1700" dirty="0">
                <a:solidFill>
                  <a:srgbClr val="046EB6"/>
                </a:solidFill>
              </a:rPr>
              <a:t>Copyright © PRICOL Limited</a:t>
            </a:r>
            <a:endParaRPr lang="en-US" altLang="en-US" sz="1700" dirty="0">
              <a:solidFill>
                <a:srgbClr val="046EB6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7720371" y="13282015"/>
            <a:ext cx="284725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700" dirty="0">
              <a:solidFill>
                <a:srgbClr val="046EB6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549934" y="13279831"/>
            <a:ext cx="118813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0" i="0" kern="1200" dirty="0">
                <a:solidFill>
                  <a:srgbClr val="046EB6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en-US" sz="1700" b="0" i="0" kern="1200" baseline="0" dirty="0">
                <a:solidFill>
                  <a:srgbClr val="046EB6"/>
                </a:solidFill>
                <a:effectLst/>
                <a:latin typeface="+mn-lt"/>
                <a:ea typeface="+mn-ea"/>
                <a:cs typeface="+mn-cs"/>
              </a:rPr>
              <a:t> </a:t>
            </a:r>
            <a:fld id="{8C873B84-7789-4D4B-A20E-ED1355786478}" type="slidenum">
              <a:rPr lang="en-US" sz="1700" b="0" smtClean="0">
                <a:solidFill>
                  <a:srgbClr val="046EB6"/>
                </a:solidFill>
              </a:rPr>
              <a:pPr/>
              <a:t>‹#›</a:t>
            </a:fld>
            <a:endParaRPr lang="en-US" sz="1700" b="0" dirty="0">
              <a:solidFill>
                <a:srgbClr val="046EB6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Z:\Pricol\Brand Manual\Digital templates\Jpeg\04Feb16\Limited PPT Template-17.jp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37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7790BB-4285-48CB-B08F-F38F4FA5DD74}"/>
              </a:ext>
            </a:extLst>
          </p:cNvPr>
          <p:cNvSpPr txBox="1"/>
          <p:nvPr userDrawn="1"/>
        </p:nvSpPr>
        <p:spPr>
          <a:xfrm>
            <a:off x="8549935" y="13279833"/>
            <a:ext cx="1188132" cy="353904"/>
          </a:xfrm>
          <a:prstGeom prst="rect">
            <a:avLst/>
          </a:prstGeom>
          <a:noFill/>
        </p:spPr>
        <p:txBody>
          <a:bodyPr wrap="square" lIns="91424" tIns="45713" rIns="91424" bIns="45713" rtlCol="0">
            <a:spAutoFit/>
          </a:bodyPr>
          <a:lstStyle/>
          <a:p>
            <a:r>
              <a:rPr lang="en-US" sz="1700" b="0" i="0" kern="1200" dirty="0">
                <a:solidFill>
                  <a:srgbClr val="046EB6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en-US" sz="1700" b="0" i="0" kern="1200" baseline="0" dirty="0">
                <a:solidFill>
                  <a:srgbClr val="046EB6"/>
                </a:solidFill>
                <a:effectLst/>
                <a:latin typeface="+mn-lt"/>
                <a:ea typeface="+mn-ea"/>
                <a:cs typeface="+mn-cs"/>
              </a:rPr>
              <a:t> </a:t>
            </a:r>
            <a:fld id="{8C873B84-7789-4D4B-A20E-ED1355786478}" type="slidenum">
              <a:rPr lang="en-US" sz="1700" b="0" smtClean="0">
                <a:solidFill>
                  <a:srgbClr val="046EB6"/>
                </a:solidFill>
              </a:rPr>
              <a:pPr/>
              <a:t>‹#›</a:t>
            </a:fld>
            <a:endParaRPr lang="en-US" sz="1700" b="0" dirty="0">
              <a:solidFill>
                <a:srgbClr val="046E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558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6" r:id="rId2"/>
  </p:sldLayoutIdLst>
  <p:txStyles>
    <p:titleStyle>
      <a:lvl1pPr algn="ctr" defTabSz="914221" rtl="0" eaLnBrk="1" latinLnBrk="0" hangingPunct="1"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32" indent="-342832" algn="l" defTabSz="914221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803" indent="-285694" algn="l" defTabSz="914221" rtl="0" eaLnBrk="1" latinLnBrk="0" hangingPunct="1">
        <a:spcBef>
          <a:spcPct val="20000"/>
        </a:spcBef>
        <a:buFont typeface="Arial" pitchFamily="34" charset="0"/>
        <a:buChar char="–"/>
        <a:defRPr sz="26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6" indent="-228555" algn="l" defTabSz="91422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6" indent="-228555" algn="l" defTabSz="914221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96" indent="-228555" algn="l" defTabSz="914221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07" indent="-228555" algn="l" defTabSz="91422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17" indent="-228555" algn="l" defTabSz="91422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26" indent="-228555" algn="l" defTabSz="91422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36" indent="-228555" algn="l" defTabSz="91422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2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0" algn="l" defTabSz="91422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21" algn="l" defTabSz="91422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31" algn="l" defTabSz="91422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40" algn="l" defTabSz="91422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50" algn="l" defTabSz="91422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61" algn="l" defTabSz="91422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71" algn="l" defTabSz="91422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81" algn="l" defTabSz="91422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8021" y="8686800"/>
            <a:ext cx="18281073" cy="1295400"/>
          </a:xfrm>
        </p:spPr>
        <p:txBody>
          <a:bodyPr/>
          <a:lstStyle/>
          <a:p>
            <a:r>
              <a:rPr lang="en-US" sz="5600" i="1" dirty="0" smtClean="0"/>
              <a:t>DOMESTIC LOGISTICS COST SAVING                                               </a:t>
            </a:r>
            <a:endParaRPr lang="en-US" sz="5600" i="1" dirty="0"/>
          </a:p>
          <a:p>
            <a:pPr algn="ctr"/>
            <a:endParaRPr lang="en-US" sz="5200" dirty="0"/>
          </a:p>
          <a:p>
            <a:pPr algn="ctr"/>
            <a:r>
              <a:rPr lang="en-US" sz="5200" dirty="0"/>
              <a:t>  							</a:t>
            </a:r>
          </a:p>
          <a:p>
            <a:pPr algn="ctr"/>
            <a:r>
              <a:rPr lang="en-US" sz="5200" dirty="0"/>
              <a:t>                   </a:t>
            </a:r>
          </a:p>
          <a:p>
            <a:pPr algn="ctr"/>
            <a:r>
              <a:rPr lang="en-US" sz="5200" dirty="0">
                <a:solidFill>
                  <a:schemeClr val="bg1">
                    <a:lumMod val="85000"/>
                  </a:schemeClr>
                </a:solidFill>
              </a:rPr>
              <a:t>							            	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4023954" y="13205823"/>
            <a:ext cx="3744416" cy="353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IN" altLang="en-US" sz="1700" dirty="0">
                <a:solidFill>
                  <a:srgbClr val="046EB6"/>
                </a:solidFill>
              </a:rPr>
              <a:t>Date: 18th Feb 2016, Version - 1</a:t>
            </a:r>
            <a:endParaRPr lang="en-US" altLang="en-US" sz="1700" dirty="0">
              <a:solidFill>
                <a:srgbClr val="046EB6"/>
              </a:solidFill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="" xmlns:a16="http://schemas.microsoft.com/office/drawing/2014/main" id="{27F9279F-2363-4020-878A-DF034ED9CA26}"/>
              </a:ext>
            </a:extLst>
          </p:cNvPr>
          <p:cNvSpPr txBox="1">
            <a:spLocks/>
          </p:cNvSpPr>
          <p:nvPr/>
        </p:nvSpPr>
        <p:spPr>
          <a:xfrm>
            <a:off x="2819400" y="10626141"/>
            <a:ext cx="15240000" cy="948741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spcBef>
                <a:spcPct val="20000"/>
              </a:spcBef>
              <a:buFont typeface="Arial" pitchFamily="34" charset="0"/>
              <a:buNone/>
              <a:defRPr sz="4800" b="1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1485900" indent="-571500" algn="l" defTabSz="1828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5200" i="1" dirty="0" smtClean="0">
                <a:solidFill>
                  <a:schemeClr val="bg1">
                    <a:lumMod val="85000"/>
                  </a:schemeClr>
                </a:solidFill>
              </a:rPr>
              <a:t>March 23,2023                 </a:t>
            </a:r>
            <a:endParaRPr lang="en-US" sz="5200" i="1" dirty="0">
              <a:solidFill>
                <a:schemeClr val="bg1">
                  <a:lumMod val="85000"/>
                </a:schemeClr>
              </a:solidFill>
            </a:endParaRPr>
          </a:p>
          <a:p>
            <a:pPr algn="r"/>
            <a:endParaRPr lang="en-US" sz="5200" dirty="0">
              <a:solidFill>
                <a:schemeClr val="bg1">
                  <a:lumMod val="85000"/>
                </a:schemeClr>
              </a:solidFill>
            </a:endParaRPr>
          </a:p>
          <a:p>
            <a:pPr algn="r"/>
            <a:r>
              <a:rPr lang="en-US" sz="5200" dirty="0">
                <a:solidFill>
                  <a:schemeClr val="bg1">
                    <a:lumMod val="85000"/>
                  </a:schemeClr>
                </a:solidFill>
              </a:rPr>
              <a:t>  							</a:t>
            </a:r>
          </a:p>
          <a:p>
            <a:pPr algn="r"/>
            <a:r>
              <a:rPr lang="en-US" sz="5200" dirty="0">
                <a:solidFill>
                  <a:schemeClr val="bg1">
                    <a:lumMod val="85000"/>
                  </a:schemeClr>
                </a:solidFill>
              </a:rPr>
              <a:t>                   </a:t>
            </a:r>
          </a:p>
          <a:p>
            <a:pPr algn="r"/>
            <a:r>
              <a:rPr lang="en-US" sz="5200" dirty="0">
                <a:solidFill>
                  <a:schemeClr val="bg1">
                    <a:lumMod val="85000"/>
                  </a:schemeClr>
                </a:solidFill>
              </a:rPr>
              <a:t>							            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648200" y="914400"/>
            <a:ext cx="9372600" cy="685800"/>
          </a:xfrm>
        </p:spPr>
        <p:txBody>
          <a:bodyPr/>
          <a:lstStyle/>
          <a:p>
            <a:pPr algn="ctr"/>
            <a:r>
              <a:rPr lang="en-US" sz="4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Domestic Logistic Cost </a:t>
            </a:r>
            <a:r>
              <a:rPr lang="en-US" sz="4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aving </a:t>
            </a:r>
            <a:r>
              <a:rPr lang="en-US" sz="4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4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roject</a:t>
            </a:r>
            <a:endParaRPr lang="en-IN" sz="4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16154400" cy="8001000"/>
          </a:xfrm>
        </p:spPr>
        <p:txBody>
          <a:bodyPr/>
          <a:lstStyle/>
          <a:p>
            <a:pPr algn="just"/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logistic cost is often the number one priority for the business bottom line.</a:t>
            </a:r>
          </a:p>
          <a:p>
            <a:pPr marL="571500" indent="-571500">
              <a:buFont typeface="Wingdings" pitchFamily="2" charset="2"/>
              <a:buChar char="q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Domestic logistics involves tracking and coordinating the flow of goods and services from their sources until the customer receives a final product within the same country.</a:t>
            </a:r>
          </a:p>
          <a:p>
            <a:pPr marL="571500" indent="-571500">
              <a:buFont typeface="Wingdings" pitchFamily="2" charset="2"/>
              <a:buChar char="q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Evaluating the Pricol’s domestic logistic cost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April 2022 to Jan 2023 and analyzing the possible ways to reduce the cost.</a:t>
            </a:r>
          </a:p>
        </p:txBody>
      </p:sp>
    </p:spTree>
    <p:extLst>
      <p:ext uri="{BB962C8B-B14F-4D97-AF65-F5344CB8AC3E}">
        <p14:creationId xmlns:p14="http://schemas.microsoft.com/office/powerpoint/2010/main" val="269011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876800" y="381000"/>
            <a:ext cx="8686800" cy="819150"/>
          </a:xfrm>
        </p:spPr>
        <p:txBody>
          <a:bodyPr/>
          <a:lstStyle/>
          <a:p>
            <a:pPr algn="ctr"/>
            <a:r>
              <a:rPr lang="en-US" sz="4400" b="1" dirty="0" smtClean="0">
                <a:solidFill>
                  <a:srgbClr val="0000FF"/>
                </a:solidFill>
              </a:rPr>
              <a:t>Domestic Logistics Flow </a:t>
            </a:r>
            <a:r>
              <a:rPr lang="en-US" sz="4400" b="1" dirty="0">
                <a:solidFill>
                  <a:srgbClr val="0000FF"/>
                </a:solidFill>
              </a:rPr>
              <a:t>C</a:t>
            </a:r>
            <a:r>
              <a:rPr lang="en-US" sz="4400" b="1" dirty="0" smtClean="0">
                <a:solidFill>
                  <a:srgbClr val="0000FF"/>
                </a:solidFill>
              </a:rPr>
              <a:t>hart</a:t>
            </a:r>
            <a:endParaRPr lang="en-IN" sz="4400" b="1" dirty="0">
              <a:solidFill>
                <a:srgbClr val="0000FF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2667000"/>
            <a:ext cx="16859250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24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648200" y="914400"/>
            <a:ext cx="8839200" cy="685800"/>
          </a:xfrm>
        </p:spPr>
        <p:txBody>
          <a:bodyPr/>
          <a:lstStyle/>
          <a:p>
            <a:pPr algn="ctr"/>
            <a:r>
              <a:rPr lang="en-US" sz="4400" b="1" dirty="0" smtClean="0">
                <a:solidFill>
                  <a:srgbClr val="0000FF"/>
                </a:solidFill>
              </a:rPr>
              <a:t>Domestic </a:t>
            </a:r>
            <a:r>
              <a:rPr lang="en-US" sz="4400" b="1" dirty="0">
                <a:solidFill>
                  <a:srgbClr val="0000FF"/>
                </a:solidFill>
              </a:rPr>
              <a:t>L</a:t>
            </a:r>
            <a:r>
              <a:rPr lang="en-US" sz="4400" b="1" dirty="0" smtClean="0">
                <a:solidFill>
                  <a:srgbClr val="0000FF"/>
                </a:solidFill>
              </a:rPr>
              <a:t>ogistics Transporter</a:t>
            </a:r>
            <a:endParaRPr lang="en-IN" sz="4400" b="1" dirty="0">
              <a:solidFill>
                <a:srgbClr val="0000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819400"/>
            <a:ext cx="13944600" cy="784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77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33400" y="609600"/>
            <a:ext cx="16916400" cy="685800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0000FF"/>
                </a:solidFill>
              </a:rPr>
              <a:t>Domestic L</a:t>
            </a:r>
            <a:r>
              <a:rPr lang="en-US" sz="4000" b="1" dirty="0" smtClean="0">
                <a:solidFill>
                  <a:srgbClr val="0000FF"/>
                </a:solidFill>
              </a:rPr>
              <a:t>ogistics Inbound &amp; Outbound </a:t>
            </a:r>
            <a:r>
              <a:rPr lang="en-US" sz="4000" b="1" dirty="0">
                <a:solidFill>
                  <a:srgbClr val="0000FF"/>
                </a:solidFill>
              </a:rPr>
              <a:t>April 2022 to January </a:t>
            </a:r>
            <a:r>
              <a:rPr lang="en-US" sz="4000" b="1" dirty="0" smtClean="0">
                <a:solidFill>
                  <a:srgbClr val="0000FF"/>
                </a:solidFill>
              </a:rPr>
              <a:t>2023 in %</a:t>
            </a:r>
            <a:endParaRPr lang="en-IN" sz="4000" b="1" dirty="0">
              <a:solidFill>
                <a:srgbClr val="0000FF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853908"/>
              </p:ext>
            </p:extLst>
          </p:nvPr>
        </p:nvGraphicFramePr>
        <p:xfrm>
          <a:off x="228602" y="2514603"/>
          <a:ext cx="17830796" cy="8915399"/>
        </p:xfrm>
        <a:graphic>
          <a:graphicData uri="http://schemas.openxmlformats.org/drawingml/2006/table">
            <a:tbl>
              <a:tblPr/>
              <a:tblGrid>
                <a:gridCol w="3272444"/>
                <a:gridCol w="1669751"/>
                <a:gridCol w="1458603"/>
                <a:gridCol w="231266"/>
                <a:gridCol w="1153402"/>
                <a:gridCol w="1528929"/>
                <a:gridCol w="1421637"/>
                <a:gridCol w="1153402"/>
                <a:gridCol w="150164"/>
                <a:gridCol w="1447800"/>
                <a:gridCol w="1419658"/>
                <a:gridCol w="1287518"/>
                <a:gridCol w="1636222"/>
              </a:tblGrid>
              <a:tr h="557130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130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Rs.in Lakhs (INR)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1086404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Avg/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64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Inbound 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271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Outbound 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64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Freight annual Estd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971.73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237.95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196.71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213.21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292.88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139.53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58.96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80.26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248.19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64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Savings at 20%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194.35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446.74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0864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Savings at 30%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291.52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670.11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0864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Savings at 40%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388.69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78.68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893.47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232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380999" y="381000"/>
            <a:ext cx="17754601" cy="762000"/>
          </a:xfrm>
        </p:spPr>
        <p:txBody>
          <a:bodyPr/>
          <a:lstStyle/>
          <a:p>
            <a:r>
              <a:rPr lang="en-US" dirty="0" smtClean="0"/>
              <a:t>   </a:t>
            </a:r>
            <a:r>
              <a:rPr lang="en-US" sz="3600" b="1" dirty="0" smtClean="0">
                <a:solidFill>
                  <a:srgbClr val="0000FF"/>
                </a:solidFill>
              </a:rPr>
              <a:t>Domestic Logistics Top 20 Inbound &amp; Outbound values of all plants April 2022 to Jan 2023</a:t>
            </a:r>
            <a:endParaRPr lang="en-IN" b="1" dirty="0">
              <a:solidFill>
                <a:srgbClr val="0000FF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058644"/>
              </p:ext>
            </p:extLst>
          </p:nvPr>
        </p:nvGraphicFramePr>
        <p:xfrm>
          <a:off x="381000" y="1447799"/>
          <a:ext cx="17754599" cy="10174628"/>
        </p:xfrm>
        <a:graphic>
          <a:graphicData uri="http://schemas.openxmlformats.org/drawingml/2006/table">
            <a:tbl>
              <a:tblPr/>
              <a:tblGrid>
                <a:gridCol w="2125197"/>
                <a:gridCol w="1989603"/>
                <a:gridCol w="1842445"/>
                <a:gridCol w="1572980"/>
                <a:gridCol w="1372175"/>
                <a:gridCol w="1572980"/>
                <a:gridCol w="1572980"/>
                <a:gridCol w="1572980"/>
                <a:gridCol w="1372175"/>
                <a:gridCol w="1372175"/>
                <a:gridCol w="1388909"/>
              </a:tblGrid>
              <a:tr h="1288570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IN" sz="5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Rs.in Lakhs (INR)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10972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317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Inbound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</a:t>
                      </a:r>
                      <a:r>
                        <a:rPr lang="en-IN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</a:t>
                      </a:r>
                    </a:p>
                    <a:p>
                      <a:pPr algn="l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155.88</a:t>
                      </a:r>
                      <a:endParaRPr lang="en-IN" sz="2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ctr"/>
                      <a:r>
                        <a:rPr lang="en-IN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137.70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679.72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Outbound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815.85                     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166.93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155.18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1,553.97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In/Out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971.73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237.95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196.71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139.53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2,233.69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</a:tr>
              <a:tr h="10972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20 Inbound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269.73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20 Outbound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149.00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430.57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Top 20 In/Out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198.30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108.40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700.30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</a:tr>
              <a:tr h="101284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Percentage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20.41%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45.56%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17.51%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54.08%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43.25%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54.82%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48.92%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47.99%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900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3352800" y="685800"/>
            <a:ext cx="11125200" cy="762000"/>
          </a:xfrm>
        </p:spPr>
        <p:txBody>
          <a:bodyPr/>
          <a:lstStyle/>
          <a:p>
            <a:pPr algn="ctr"/>
            <a:r>
              <a:rPr lang="en-IN" sz="4000" b="1" dirty="0">
                <a:solidFill>
                  <a:srgbClr val="0000FF"/>
                </a:solidFill>
                <a:cs typeface="Times New Roman" panose="02020603050405020304" pitchFamily="18" charset="0"/>
              </a:rPr>
              <a:t>Ways to </a:t>
            </a:r>
            <a:r>
              <a:rPr lang="en-IN" sz="40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Reduce </a:t>
            </a:r>
            <a:r>
              <a:rPr lang="en-IN" sz="4000" b="1" dirty="0">
                <a:solidFill>
                  <a:srgbClr val="0000FF"/>
                </a:solidFill>
                <a:cs typeface="Times New Roman" panose="02020603050405020304" pitchFamily="18" charset="0"/>
              </a:rPr>
              <a:t>the  </a:t>
            </a:r>
            <a:r>
              <a:rPr lang="en-IN" sz="40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Domestic </a:t>
            </a:r>
            <a:r>
              <a:rPr lang="en-IN" sz="4000" b="1" dirty="0">
                <a:solidFill>
                  <a:srgbClr val="0000FF"/>
                </a:solidFill>
                <a:cs typeface="Times New Roman" panose="02020603050405020304" pitchFamily="18" charset="0"/>
              </a:rPr>
              <a:t>L</a:t>
            </a:r>
            <a:r>
              <a:rPr lang="en-IN" sz="40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ogistics </a:t>
            </a:r>
            <a:r>
              <a:rPr lang="en-IN" sz="4000" b="1" dirty="0">
                <a:solidFill>
                  <a:srgbClr val="0000FF"/>
                </a:solidFill>
                <a:cs typeface="Times New Roman" panose="02020603050405020304" pitchFamily="18" charset="0"/>
              </a:rPr>
              <a:t>Cost</a:t>
            </a:r>
          </a:p>
          <a:p>
            <a:pPr algn="ctr"/>
            <a:endParaRPr lang="en-IN" sz="4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85800" y="2057400"/>
            <a:ext cx="16154400" cy="8610600"/>
          </a:xfrm>
        </p:spPr>
        <p:txBody>
          <a:bodyPr/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cs typeface="Times New Roman" panose="02020603050405020304" pitchFamily="18" charset="0"/>
              </a:rPr>
              <a:t>Localization</a:t>
            </a:r>
            <a:endParaRPr lang="en-US" b="1" dirty="0">
              <a:cs typeface="Times New Roman" panose="02020603050405020304" pitchFamily="18" charset="0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cs typeface="Times New Roman" panose="02020603050405020304" pitchFamily="18" charset="0"/>
              </a:rPr>
              <a:t>Consolidation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dirty="0">
                <a:cs typeface="Times New Roman" panose="02020603050405020304" pitchFamily="18" charset="0"/>
              </a:rPr>
              <a:t>	</a:t>
            </a:r>
            <a:r>
              <a:rPr lang="en-US" sz="3200" dirty="0">
                <a:cs typeface="Times New Roman" panose="02020603050405020304" pitchFamily="18" charset="0"/>
              </a:rPr>
              <a:t>Consolidating the Plant 1,3 and 4 plants transportation helps to reduce the cost of extra </a:t>
            </a:r>
            <a:r>
              <a:rPr lang="en-US" sz="3200" dirty="0" smtClean="0">
                <a:cs typeface="Times New Roman" panose="02020603050405020304" pitchFamily="18" charset="0"/>
              </a:rPr>
              <a:t>vehicles charges.</a:t>
            </a:r>
            <a:endParaRPr lang="en-US" sz="3200" dirty="0">
              <a:cs typeface="Times New Roman" panose="02020603050405020304" pitchFamily="18" charset="0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cs typeface="Times New Roman" panose="02020603050405020304" pitchFamily="18" charset="0"/>
              </a:rPr>
              <a:t>Reduce number of shipment</a:t>
            </a:r>
          </a:p>
          <a:p>
            <a:pPr marL="0" indent="0">
              <a:lnSpc>
                <a:spcPct val="150000"/>
              </a:lnSpc>
            </a:pPr>
            <a:r>
              <a:rPr lang="en-US" sz="3600" b="1" dirty="0">
                <a:cs typeface="Times New Roman" panose="02020603050405020304" pitchFamily="18" charset="0"/>
              </a:rPr>
              <a:t>	</a:t>
            </a:r>
            <a:r>
              <a:rPr lang="en-US" dirty="0">
                <a:cs typeface="Times New Roman" panose="02020603050405020304" pitchFamily="18" charset="0"/>
              </a:rPr>
              <a:t>Make sure the trucks which is carry the raw materials and also finishes goods are fully fill</a:t>
            </a:r>
            <a:r>
              <a:rPr lang="en-US" dirty="0" smtClean="0">
                <a:cs typeface="Times New Roman" panose="02020603050405020304" pitchFamily="18" charset="0"/>
              </a:rPr>
              <a:t>.</a:t>
            </a:r>
          </a:p>
          <a:p>
            <a:pPr marL="742950" indent="-742950">
              <a:lnSpc>
                <a:spcPct val="150000"/>
              </a:lnSpc>
              <a:buAutoNum type="arabicPeriod" startAt="4"/>
            </a:pPr>
            <a:r>
              <a:rPr lang="en-US" sz="3600" b="1" dirty="0" smtClean="0">
                <a:cs typeface="Times New Roman" panose="02020603050405020304" pitchFamily="18" charset="0"/>
              </a:rPr>
              <a:t>Milk </a:t>
            </a:r>
            <a:r>
              <a:rPr lang="en-US" sz="3600" b="1" dirty="0">
                <a:cs typeface="Times New Roman" panose="02020603050405020304" pitchFamily="18" charset="0"/>
              </a:rPr>
              <a:t>R</a:t>
            </a:r>
            <a:r>
              <a:rPr lang="en-US" sz="3600" b="1" dirty="0" smtClean="0">
                <a:cs typeface="Times New Roman" panose="02020603050405020304" pitchFamily="18" charset="0"/>
              </a:rPr>
              <a:t>unway</a:t>
            </a:r>
          </a:p>
          <a:p>
            <a:pPr marL="742950" indent="-742950">
              <a:lnSpc>
                <a:spcPct val="150000"/>
              </a:lnSpc>
              <a:buAutoNum type="arabicPeriod" startAt="4"/>
            </a:pPr>
            <a:r>
              <a:rPr lang="en-US" sz="3600" b="1" dirty="0" smtClean="0">
                <a:cs typeface="Times New Roman" panose="02020603050405020304" pitchFamily="18" charset="0"/>
              </a:rPr>
              <a:t>Mode </a:t>
            </a:r>
            <a:r>
              <a:rPr lang="en-US" sz="3600" b="1" dirty="0">
                <a:cs typeface="Times New Roman" panose="02020603050405020304" pitchFamily="18" charset="0"/>
              </a:rPr>
              <a:t>of transportation</a:t>
            </a:r>
          </a:p>
          <a:p>
            <a:pPr marL="400050" lvl="1" indent="0">
              <a:buNone/>
            </a:pPr>
            <a:r>
              <a:rPr lang="en-US" dirty="0">
                <a:cs typeface="Times New Roman" panose="02020603050405020304" pitchFamily="18" charset="0"/>
              </a:rPr>
              <a:t>        </a:t>
            </a:r>
            <a:r>
              <a:rPr lang="en-US" sz="3200" dirty="0" smtClean="0">
                <a:cs typeface="Times New Roman" panose="02020603050405020304" pitchFamily="18" charset="0"/>
              </a:rPr>
              <a:t>Among </a:t>
            </a:r>
            <a:r>
              <a:rPr lang="en-US" sz="3200" dirty="0">
                <a:cs typeface="Times New Roman" panose="02020603050405020304" pitchFamily="18" charset="0"/>
              </a:rPr>
              <a:t>different modes of transport, </a:t>
            </a:r>
            <a:r>
              <a:rPr lang="en-US" sz="3200" b="1" dirty="0">
                <a:cs typeface="Times New Roman" panose="02020603050405020304" pitchFamily="18" charset="0"/>
              </a:rPr>
              <a:t>Railways</a:t>
            </a:r>
            <a:r>
              <a:rPr lang="en-US" sz="3200" dirty="0">
                <a:cs typeface="Times New Roman" panose="02020603050405020304" pitchFamily="18" charset="0"/>
              </a:rPr>
              <a:t> are the cheapest.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399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60221" y="304800"/>
            <a:ext cx="18227777" cy="553036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P</a:t>
            </a:r>
            <a:r>
              <a:rPr lang="en-US" sz="3600" b="1" dirty="0" smtClean="0">
                <a:solidFill>
                  <a:srgbClr val="0000FF"/>
                </a:solidFill>
              </a:rPr>
              <a:t>lant 1 Inbound (Top 20 4</a:t>
            </a:r>
            <a:r>
              <a:rPr lang="en-US" sz="3600" b="1" baseline="30000" dirty="0" smtClean="0">
                <a:solidFill>
                  <a:srgbClr val="0000FF"/>
                </a:solidFill>
              </a:rPr>
              <a:t>th</a:t>
            </a:r>
            <a:r>
              <a:rPr lang="en-US" sz="3600" b="1" dirty="0" smtClean="0">
                <a:solidFill>
                  <a:srgbClr val="0000FF"/>
                </a:solidFill>
              </a:rPr>
              <a:t> Bill)</a:t>
            </a:r>
            <a:endParaRPr lang="en-IN" sz="3600" b="1" dirty="0">
              <a:solidFill>
                <a:srgbClr val="0000FF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43000" y="1676400"/>
            <a:ext cx="15697200" cy="8991600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460122"/>
              </p:ext>
            </p:extLst>
          </p:nvPr>
        </p:nvGraphicFramePr>
        <p:xfrm>
          <a:off x="1" y="1371601"/>
          <a:ext cx="18287999" cy="2152650"/>
        </p:xfrm>
        <a:graphic>
          <a:graphicData uri="http://schemas.openxmlformats.org/drawingml/2006/table">
            <a:tbl>
              <a:tblPr/>
              <a:tblGrid>
                <a:gridCol w="868736"/>
                <a:gridCol w="1633519"/>
                <a:gridCol w="2027049"/>
                <a:gridCol w="4081295"/>
                <a:gridCol w="1600200"/>
                <a:gridCol w="3886200"/>
                <a:gridCol w="2286000"/>
                <a:gridCol w="1905000"/>
              </a:tblGrid>
              <a:tr h="9587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Document No</a:t>
                      </a:r>
                      <a:endParaRPr lang="en-IN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Reference Inbound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 of transportation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 of the Vendor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Currency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64149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10-05-2022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5100009025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INWARD BULLET LOG - MAR 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LOGISTICS PRIVATE LIMITED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1,84,511.02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223" y="3402271"/>
            <a:ext cx="18249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IN" dirty="0" smtClean="0"/>
              <a:t> </a:t>
            </a:r>
            <a:endParaRPr lang="en-IN" dirty="0">
              <a:solidFill>
                <a:srgbClr val="FF0000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933416"/>
              </p:ext>
            </p:extLst>
          </p:nvPr>
        </p:nvGraphicFramePr>
        <p:xfrm>
          <a:off x="60221" y="4048603"/>
          <a:ext cx="18227777" cy="7437961"/>
        </p:xfrm>
        <a:graphic>
          <a:graphicData uri="http://schemas.openxmlformats.org/drawingml/2006/table">
            <a:tbl>
              <a:tblPr/>
              <a:tblGrid>
                <a:gridCol w="600548"/>
                <a:gridCol w="734004"/>
                <a:gridCol w="1184416"/>
                <a:gridCol w="1234462"/>
                <a:gridCol w="1451327"/>
                <a:gridCol w="1451327"/>
                <a:gridCol w="750686"/>
                <a:gridCol w="917505"/>
                <a:gridCol w="2046314"/>
                <a:gridCol w="583868"/>
                <a:gridCol w="583868"/>
                <a:gridCol w="583868"/>
                <a:gridCol w="1067643"/>
                <a:gridCol w="1050961"/>
                <a:gridCol w="934188"/>
                <a:gridCol w="1067643"/>
                <a:gridCol w="934188"/>
                <a:gridCol w="1050961"/>
              </a:tblGrid>
              <a:tr h="568236">
                <a:tc gridSpan="18"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Freight Charges Details of Top 4th Inbound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45896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7 TO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9 TO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2 TO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KISHAN METAL TO PLANT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5 TO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1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Docket 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Pickup 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Consignor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Consignee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Origin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Destination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Invoice 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of </a:t>
                      </a:r>
                      <a:r>
                        <a:rPr lang="en-IN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Pkgs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 </a:t>
                      </a:r>
                      <a:r>
                        <a:rPr lang="en-IN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Wt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Chg</a:t>
                      </a:r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N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Wt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Rate per Kg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Freight Charges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Docket Charges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Gst</a:t>
                      </a:r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1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27038660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30.03.2022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CJB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dg07000694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36677.7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36727.7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6610.99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43338.69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</a:tr>
              <a:tr h="4589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27038661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30.03.2022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CJB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dg07000695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2778.84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2828.84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509.19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3338.03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</a:tr>
              <a:tr h="4371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6104220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31.03.2022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GGN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CJB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DG09000648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22876.74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22926.74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4126.81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27053.55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</a:tr>
              <a:tr h="4589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6104227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31.03.2022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GGN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CJB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DG09000653/654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1379.7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1687.05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</a:tr>
              <a:tr h="4371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6068678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01.04.2022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GGN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CJB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DG02001889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1603.08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1653.08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297.55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1950.63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  <a:tr h="50579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6068679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01.04.2022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Plant 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GGN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CJB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EG02000001 TO 003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555.17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  <a:tr h="4371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6071191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10.14.2022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Kishan Metal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FBD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CJB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2680.56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491.5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3222.06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</a:tr>
              <a:tr h="4589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6071192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01.04.2022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Kishan Metal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FBD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CJB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718.56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4710.56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</a:tr>
              <a:tr h="4371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27056077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01.04.2022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CJB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588.96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3860.96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  <a:tr h="4371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27056078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01.04.2022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CJB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  <a:tr h="4589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27056079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01.04.2022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Pricol plant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CJB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58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485900" y="1485900"/>
            <a:ext cx="14325600" cy="914400"/>
          </a:xfrm>
        </p:spPr>
        <p:txBody>
          <a:bodyPr/>
          <a:lstStyle/>
          <a:p>
            <a:pPr algn="ctr"/>
            <a:r>
              <a:rPr lang="en-US" sz="4400" b="1" dirty="0" smtClean="0">
                <a:solidFill>
                  <a:srgbClr val="0000FF"/>
                </a:solidFill>
              </a:rPr>
              <a:t>PLANT 1 TOP 5 OUTBOUND </a:t>
            </a:r>
            <a:endParaRPr lang="en-IN" sz="4400" b="1" dirty="0">
              <a:solidFill>
                <a:srgbClr val="0000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76400" y="4191000"/>
            <a:ext cx="2819400" cy="838200"/>
          </a:xfrm>
          <a:prstGeom prst="rect">
            <a:avLst/>
          </a:prstGeom>
          <a:solidFill>
            <a:srgbClr val="0070C0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PLANT 1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4468761" y="4381500"/>
            <a:ext cx="1066800" cy="4572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715000" y="4191000"/>
            <a:ext cx="2362200" cy="838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MUMBAI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8077200" y="4381500"/>
            <a:ext cx="1143000" cy="4572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9301316" y="4191000"/>
            <a:ext cx="2514600" cy="838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MOROCCO</a:t>
            </a:r>
            <a:endParaRPr lang="en-IN" b="1" dirty="0"/>
          </a:p>
        </p:txBody>
      </p:sp>
      <p:sp>
        <p:nvSpPr>
          <p:cNvPr id="15" name="Right Arrow 14"/>
          <p:cNvSpPr/>
          <p:nvPr/>
        </p:nvSpPr>
        <p:spPr>
          <a:xfrm>
            <a:off x="11949266" y="4412840"/>
            <a:ext cx="1224116" cy="4572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3306732" y="4191000"/>
            <a:ext cx="2885768" cy="83820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HIGH COST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14304706" y="5029200"/>
            <a:ext cx="533400" cy="114300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3306731" y="9334500"/>
            <a:ext cx="2886997" cy="1447800"/>
          </a:xfrm>
          <a:prstGeom prst="rect">
            <a:avLst/>
          </a:prstGeom>
          <a:solidFill>
            <a:srgbClr val="FFFF00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AVG 811931.4</a:t>
            </a:r>
            <a:endParaRPr lang="en-IN" b="1" dirty="0" smtClean="0">
              <a:solidFill>
                <a:schemeClr val="tx1"/>
              </a:solidFill>
            </a:endParaRP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(INR)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306732" y="6324600"/>
            <a:ext cx="2885768" cy="17145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PLANT 1 TOP 5 OUTBOUND AVG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1" name="Down Arrow 20"/>
          <p:cNvSpPr/>
          <p:nvPr/>
        </p:nvSpPr>
        <p:spPr>
          <a:xfrm>
            <a:off x="14304706" y="8137423"/>
            <a:ext cx="533400" cy="93037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Down Arrow 21"/>
          <p:cNvSpPr/>
          <p:nvPr/>
        </p:nvSpPr>
        <p:spPr>
          <a:xfrm>
            <a:off x="2743200" y="5066071"/>
            <a:ext cx="609600" cy="179070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676400" y="7086600"/>
            <a:ext cx="2819400" cy="1066800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TUTICORIN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6" name="Curved Up Arrow 25"/>
          <p:cNvSpPr/>
          <p:nvPr/>
        </p:nvSpPr>
        <p:spPr>
          <a:xfrm rot="20059440">
            <a:off x="4514874" y="6398858"/>
            <a:ext cx="6456556" cy="1336156"/>
          </a:xfrm>
          <a:prstGeom prst="curvedUp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Flowchart: Process 26"/>
          <p:cNvSpPr/>
          <p:nvPr/>
        </p:nvSpPr>
        <p:spPr>
          <a:xfrm rot="20204785">
            <a:off x="5716931" y="6614687"/>
            <a:ext cx="3811054" cy="600925"/>
          </a:xfrm>
          <a:prstGeom prst="flowChartProcess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LOWCOST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470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181600" y="304800"/>
            <a:ext cx="8153400" cy="762000"/>
          </a:xfrm>
        </p:spPr>
        <p:txBody>
          <a:bodyPr/>
          <a:lstStyle/>
          <a:p>
            <a:pPr algn="ctr"/>
            <a:r>
              <a:rPr lang="en-US" sz="4400" b="1" dirty="0" smtClean="0">
                <a:solidFill>
                  <a:srgbClr val="0000FF"/>
                </a:solidFill>
                <a:latin typeface="+mj-lt"/>
              </a:rPr>
              <a:t>Problems &amp; Solutions</a:t>
            </a:r>
            <a:endParaRPr lang="en-IN" sz="4400" b="1" dirty="0">
              <a:solidFill>
                <a:srgbClr val="0000FF"/>
              </a:solidFill>
              <a:latin typeface="+mj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708918"/>
              </p:ext>
            </p:extLst>
          </p:nvPr>
        </p:nvGraphicFramePr>
        <p:xfrm>
          <a:off x="-22123" y="1981199"/>
          <a:ext cx="18059400" cy="10317619"/>
        </p:xfrm>
        <a:graphic>
          <a:graphicData uri="http://schemas.openxmlformats.org/drawingml/2006/table">
            <a:tbl>
              <a:tblPr/>
              <a:tblGrid>
                <a:gridCol w="1371600"/>
                <a:gridCol w="1850923"/>
                <a:gridCol w="7086600"/>
                <a:gridCol w="7750277"/>
              </a:tblGrid>
              <a:tr h="1468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In/Out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Problem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Solution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575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Many Shipments made on same date in same plant address. 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 23-08-2022- PNQ to CJB, 23-08-2022 - PNQ to CJB.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Make it as a single Shipment. (Save Docket Charges)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58118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Many Shipments coming from many supplier on one day. 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14-10-2022 -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Polymek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products PNQ to CJB, Pricol P5 PNQ to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CJB,Fugifilm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Sericol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PNQ to CJB.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Arrange the plan, Road map and number of supplier - Using Milk Run Method.  (Save Docket Charges)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4313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The Shipments made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partialy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The Shipment only made fully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436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Mode of Transportation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Change the mode of transport based on material weight &amp; Area. (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Like Train instead of Road transport. Pune to Coimbatore. Pune -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Satara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Hubballi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Devangere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Tumakuru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Coimbatore.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5278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High Number of shipments.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Reducing the number of shipments through consolidation plan. (Weekly once transportation)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5151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Outbound</a:t>
                      </a:r>
                      <a:endParaRPr lang="en-IN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Logest Route. (E.g) The Shipment made from Coimbatore to Morocco. Coimbatore - Mumbai - Morocco. ( Plant 1 Top 5 Outbound Cost Avg 811931.4 (INR)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t-IT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Smallest Route. (E.g) Coimbatore to Morocco. Coimbatore -Tuticorin - Morocco.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" y="1066800"/>
            <a:ext cx="327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0000FF"/>
                </a:solidFill>
              </a:rPr>
              <a:t>Plant 1 </a:t>
            </a:r>
            <a:endParaRPr lang="en-IN" sz="4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209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28601" y="830826"/>
            <a:ext cx="5255341" cy="838200"/>
          </a:xfrm>
        </p:spPr>
        <p:txBody>
          <a:bodyPr/>
          <a:lstStyle/>
          <a:p>
            <a:r>
              <a:rPr lang="en-US" sz="4400" b="1" dirty="0" smtClean="0">
                <a:solidFill>
                  <a:srgbClr val="0000FF"/>
                </a:solidFill>
              </a:rPr>
              <a:t>Plant 2 &amp; 9</a:t>
            </a:r>
            <a:endParaRPr lang="en-IN" sz="4400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970348"/>
              </p:ext>
            </p:extLst>
          </p:nvPr>
        </p:nvGraphicFramePr>
        <p:xfrm>
          <a:off x="228601" y="1676400"/>
          <a:ext cx="17830799" cy="9982200"/>
        </p:xfrm>
        <a:graphic>
          <a:graphicData uri="http://schemas.openxmlformats.org/drawingml/2006/table">
            <a:tbl>
              <a:tblPr/>
              <a:tblGrid>
                <a:gridCol w="1295399"/>
                <a:gridCol w="1600200"/>
                <a:gridCol w="7162800"/>
                <a:gridCol w="7772400"/>
              </a:tblGrid>
              <a:tr h="5288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In/Out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Problem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Solution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800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2 &amp; 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Many Shipments made on same date in same plant address. 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 21-09-2022- CJB to GGN (2 Shipments) Rs.413+413 = 426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Make it as a single Shipment.  (Save Docket Charges)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6844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Many Shipments coming from many supplier on one day. 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16-09-2022 -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Polymek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products CJB to GGN (7 Shipments are Made) Rs. 300+657+300+525+5913+5518+2943 = 16156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Arrange the plan, Road map and number of supplier - Using Milk Run Method.  (Save Docket Charges)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9317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The Shipments made partialy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The Shipment only made fully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6844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Mode of Transportation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Change the mode of transport based on material weight &amp; Area. (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Like Train instead of Road transport. Coimbatore to Gurgaon. 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Gurgoan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Gwalior  - Sahar - 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Adilabad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Bengalore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Hosur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selam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Coimbatore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3547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High Number of shipments.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Reducing the number of shipments through consolidation plan. (Weekly once transportation)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03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16310" y="457200"/>
            <a:ext cx="5257800" cy="914399"/>
          </a:xfrm>
        </p:spPr>
        <p:txBody>
          <a:bodyPr/>
          <a:lstStyle/>
          <a:p>
            <a:r>
              <a:rPr lang="en-US" sz="4000" b="1" dirty="0" smtClean="0">
                <a:solidFill>
                  <a:srgbClr val="0000FF"/>
                </a:solidFill>
              </a:rPr>
              <a:t>Plant 3 &amp; 4</a:t>
            </a:r>
            <a:endParaRPr lang="en-IN" sz="4000" b="1" dirty="0">
              <a:solidFill>
                <a:srgbClr val="0000FF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75407"/>
              </p:ext>
            </p:extLst>
          </p:nvPr>
        </p:nvGraphicFramePr>
        <p:xfrm>
          <a:off x="228600" y="1371599"/>
          <a:ext cx="17830800" cy="10172363"/>
        </p:xfrm>
        <a:graphic>
          <a:graphicData uri="http://schemas.openxmlformats.org/drawingml/2006/table">
            <a:tbl>
              <a:tblPr/>
              <a:tblGrid>
                <a:gridCol w="1066800"/>
                <a:gridCol w="1676400"/>
                <a:gridCol w="7772400"/>
                <a:gridCol w="7315200"/>
              </a:tblGrid>
              <a:tr h="99943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In/Out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Problem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Solution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750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3 &amp; 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Many Shipments made on same date in same plant address. 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 23-08-2022- PNQ to CJB, 23-08-2022 - PNQ to CJB.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Make it as a single Shipment.  (Save Docket Charges)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56051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Many Shipments coming from many supplier on one day. 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14-10-2022 -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Polymek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products PNQ to CJB, Pricol P5 PNQ to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CJB,Fugifilm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Sericol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PNQ to CJB.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Arrange the plan, Road map and number of supplier - Using Milk Run Method.  (Save Docket Charges)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99943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The Shipments made partialy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The Shipment only made fully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8691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Mode of Transportation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Change the mode of transport based on material weight &amp; Area. (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Like Train instead of Road transport. Pune to Coimbatore. Pune -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Satara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Hubballi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Devangere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Tumakuru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Coimbatore.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99943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High Number of shipments.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Reducing the number of shipments through consolidation plan. (Weekly once transportation)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25192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6. From Coimbatore to Coimbatore (115km)                              Rs. 5121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6. For 115km the transportation cost is very less than Rs. 5121 ( RABWIN to Plant 3  39.2km ) RABWIN TO PLANT 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15723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Some Shipments are made in less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Quantitiy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Weekly once Shipment can reduce the cost of Docket charges.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881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28600" y="304800"/>
            <a:ext cx="5257800" cy="762000"/>
          </a:xfrm>
        </p:spPr>
        <p:txBody>
          <a:bodyPr/>
          <a:lstStyle/>
          <a:p>
            <a:r>
              <a:rPr lang="en-US" sz="4000" b="1" dirty="0" smtClean="0">
                <a:solidFill>
                  <a:srgbClr val="0000FF"/>
                </a:solidFill>
              </a:rPr>
              <a:t>Plant 5</a:t>
            </a:r>
            <a:endParaRPr lang="en-IN" sz="4000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375461"/>
              </p:ext>
            </p:extLst>
          </p:nvPr>
        </p:nvGraphicFramePr>
        <p:xfrm>
          <a:off x="228600" y="1066800"/>
          <a:ext cx="17678400" cy="10088327"/>
        </p:xfrm>
        <a:graphic>
          <a:graphicData uri="http://schemas.openxmlformats.org/drawingml/2006/table">
            <a:tbl>
              <a:tblPr/>
              <a:tblGrid>
                <a:gridCol w="1203126"/>
                <a:gridCol w="1328451"/>
                <a:gridCol w="7820317"/>
                <a:gridCol w="7326506"/>
              </a:tblGrid>
              <a:tr h="182926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In/Out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Problem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Solution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235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Many Shipments coming from many supplier on one </a:t>
                      </a: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 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13-07-2022 -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Dyco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 Plant 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Lakshana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Industries to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Palnt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5, D R M Metals to Plant 5, Victory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to Plant 5,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Sakkthi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Sereens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to Plant 5. (Rs. 3554+413+1009+413+439= 5828).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Arrange the plan, Road map and number of supplier - Using Milk Run Method.  (Save Docket Charges)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47818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The Shipments made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partialy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The Shipment only made fully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23926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Mode of Transportation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Change the mode of transport based on material weight &amp; Area. (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Like Train instead of Road transport. Pune to Coimbatore. Pune -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Satara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Hubballi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Devangere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</a:t>
                      </a:r>
                      <a:r>
                        <a:rPr lang="en-IN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Tumakuru</a:t>
                      </a: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Coimbatore.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829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High Number of shipments.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Reducing the number of shipments through consolidation plan. (Weekly once transportation)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02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28600" y="454742"/>
            <a:ext cx="5257800" cy="685800"/>
          </a:xfrm>
        </p:spPr>
        <p:txBody>
          <a:bodyPr/>
          <a:lstStyle/>
          <a:p>
            <a:r>
              <a:rPr lang="en-US" sz="4400" b="1" dirty="0" smtClean="0">
                <a:solidFill>
                  <a:srgbClr val="0000FF"/>
                </a:solidFill>
              </a:rPr>
              <a:t>Plant 7</a:t>
            </a:r>
            <a:endParaRPr lang="en-IN" sz="4400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303420"/>
              </p:ext>
            </p:extLst>
          </p:nvPr>
        </p:nvGraphicFramePr>
        <p:xfrm>
          <a:off x="228600" y="1143000"/>
          <a:ext cx="17830800" cy="10572388"/>
        </p:xfrm>
        <a:graphic>
          <a:graphicData uri="http://schemas.openxmlformats.org/drawingml/2006/table">
            <a:tbl>
              <a:tblPr/>
              <a:tblGrid>
                <a:gridCol w="1143000"/>
                <a:gridCol w="1828800"/>
                <a:gridCol w="6781800"/>
                <a:gridCol w="8077200"/>
              </a:tblGrid>
              <a:tr h="77705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In/Out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Problem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Solution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817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Many Shipments made on same date in same plant address. 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 15-06-2022 CJB to RDR, Plant 1 to Plant 7.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Make it as a single Shipment.  (Save Docket Charges)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48714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Many Shipments coming from many supplier on one day. 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23-06-2022 - CJB to RDR, Kamal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Industires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to Plant 7, Jay Bee Plastics, D R M Metals to Plant 7, Marcus Hi-Tech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to Plant 7. Rs. 587+940+1116+413 = 3056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Arrange the plan, Road map and number of supplier - Using Milk Run Method.  (Save Docket Charges)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7770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The Shipments made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partialy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The Shipment only made fully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07899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Mode of Transportation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Change the mode of transport based on material weight &amp; Area. (E.g) Like Train instead of Road transport. Coimbatore To Rudrapur. Rudrapur - Bareilly - Jhansi-Sahar-Nagpur-Anantapur-Bengaluru-Hosur-salem-Coimbatore.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83519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High Number of shipments.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Reducing the number of shipments through consolidation plan. (Weekly once transportation)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2481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Many Shipments made on same date in same plant address. 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29-09-2022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Rudrapur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to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Zaheerabad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Make it as a single Shipment.  (Save Docket Charges)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83519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Some Shipments are made in less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Quantitiy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Weekly once Shipment can reduce the cost of Docket charges.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990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28601" y="685800"/>
            <a:ext cx="5257800" cy="685800"/>
          </a:xfrm>
        </p:spPr>
        <p:txBody>
          <a:bodyPr/>
          <a:lstStyle/>
          <a:p>
            <a:r>
              <a:rPr lang="en-US" sz="4400" b="1" dirty="0" smtClean="0">
                <a:solidFill>
                  <a:srgbClr val="0000FF"/>
                </a:solidFill>
              </a:rPr>
              <a:t>Plant 10</a:t>
            </a:r>
            <a:endParaRPr lang="en-IN" sz="4400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758786"/>
              </p:ext>
            </p:extLst>
          </p:nvPr>
        </p:nvGraphicFramePr>
        <p:xfrm>
          <a:off x="228601" y="1371600"/>
          <a:ext cx="17830801" cy="10061001"/>
        </p:xfrm>
        <a:graphic>
          <a:graphicData uri="http://schemas.openxmlformats.org/drawingml/2006/table">
            <a:tbl>
              <a:tblPr/>
              <a:tblGrid>
                <a:gridCol w="1295400"/>
                <a:gridCol w="1600199"/>
                <a:gridCol w="6553201"/>
                <a:gridCol w="8382001"/>
              </a:tblGrid>
              <a:tr h="6858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In/Out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Problem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Solution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1316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Many Shipments made on same date in same plant address. 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 18-10-2022 CJB  to NLR (4 Shipments)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Make it as a single Shipment.  (Save Docket Charges)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8377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Many Shipments coming from many supplier on one day. 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 28-10-2022 CJB to NLR. Jay Yes,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Chiranjivee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Products, Victory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Enggn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Ramya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Plastic to Plant 10.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Arrange the plan, Road map and number of supplier - Using Milk Run Method.  (Save Docket Charges)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06845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The Shipments made partialy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The Shipment only made fully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3798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Mode of </a:t>
                      </a: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Transportation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Change the mode of transport based on material weight &amp; Area. 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Like Train instead of Road transport.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1496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High Number of shipments.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Reducing the number of shipments through consolidation plan. (Weekly once transportation)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1496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Many Shipments made on same date in same plant address. (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E.g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11-10-2022 NLR to HTS.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Make it as a single Shipment.  (Save Docket Charges)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06845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Some Shipments are made in less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Quantitiy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Weekly once Shipment can reduce the cost of Docket charges.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146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28601" y="533400"/>
            <a:ext cx="5257800" cy="990600"/>
          </a:xfrm>
        </p:spPr>
        <p:txBody>
          <a:bodyPr/>
          <a:lstStyle/>
          <a:p>
            <a:r>
              <a:rPr lang="en-US" sz="4400" b="1" dirty="0" smtClean="0">
                <a:solidFill>
                  <a:srgbClr val="0000FF"/>
                </a:solidFill>
              </a:rPr>
              <a:t>Plant 12</a:t>
            </a:r>
            <a:endParaRPr lang="en-IN" sz="4400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667673"/>
              </p:ext>
            </p:extLst>
          </p:nvPr>
        </p:nvGraphicFramePr>
        <p:xfrm>
          <a:off x="228601" y="1295400"/>
          <a:ext cx="17830798" cy="10210801"/>
        </p:xfrm>
        <a:graphic>
          <a:graphicData uri="http://schemas.openxmlformats.org/drawingml/2006/table">
            <a:tbl>
              <a:tblPr/>
              <a:tblGrid>
                <a:gridCol w="1010184"/>
                <a:gridCol w="1656815"/>
                <a:gridCol w="7391400"/>
                <a:gridCol w="7772399"/>
              </a:tblGrid>
              <a:tr h="6850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In/Out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Problem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Solution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6677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 </a:t>
                      </a:r>
                      <a:r>
                        <a:rPr lang="en-IN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en-IN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Many Shipments made on next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next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days in same plant address.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Make it as a single Shipment.  (Save Docket Charges)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40276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The Shipments made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partialy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The Shipment only made fully filled trucks.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5734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Mode of Transportation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Change the mode of transport based on material weight &amp; Area. (E.g) Like Train instead of Road transport.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31618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High Number of shipments.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Reducing the number of shipments through consolidation plan. (Weekly once transportation)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40276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Outbound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Some Shipments are made in less 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Quantitiy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Weekly once Shipment can reduce the cost of Docket charges.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028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48382</TotalTime>
  <Words>2264</Words>
  <Application>Microsoft Office PowerPoint</Application>
  <PresentationFormat>Custom</PresentationFormat>
  <Paragraphs>594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1873 Winchester</vt:lpstr>
      <vt:lpstr>Arial</vt:lpstr>
      <vt:lpstr>Calibri</vt:lpstr>
      <vt:lpstr>Times New Roman</vt:lpstr>
      <vt:lpstr>Wingdings</vt:lpstr>
      <vt:lpstr>Office Theme</vt:lpstr>
      <vt:lpstr>1_Custom Design</vt:lpstr>
      <vt:lpstr>2_Custom Design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Krithika</dc:creator>
  <cp:lastModifiedBy>Ganapathi B.</cp:lastModifiedBy>
  <cp:revision>1605</cp:revision>
  <cp:lastPrinted>2021-03-22T06:13:52Z</cp:lastPrinted>
  <dcterms:created xsi:type="dcterms:W3CDTF">2015-02-24T14:16:41Z</dcterms:created>
  <dcterms:modified xsi:type="dcterms:W3CDTF">2023-03-31T10:47:53Z</dcterms:modified>
</cp:coreProperties>
</file>